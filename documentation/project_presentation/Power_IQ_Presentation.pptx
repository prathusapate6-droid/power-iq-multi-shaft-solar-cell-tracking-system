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TqgOWi64vH27xH0vTo3hiPtc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://ieeexplore.ieee.org/document/10845331" TargetMode="External"/><Relationship Id="rId9" Type="http://schemas.openxmlformats.org/officeDocument/2006/relationships/hyperlink" Target="http://ieeexplore.ieee.org/document/10690428" TargetMode="External"/><Relationship Id="rId5" Type="http://schemas.openxmlformats.org/officeDocument/2006/relationships/hyperlink" Target="http://ieeexplore.ieee.org/document/10690428" TargetMode="External"/><Relationship Id="rId6" Type="http://schemas.openxmlformats.org/officeDocument/2006/relationships/hyperlink" Target="http://ieeexplore.ieee.org/document/10690428" TargetMode="External"/><Relationship Id="rId7" Type="http://schemas.openxmlformats.org/officeDocument/2006/relationships/hyperlink" Target="http://ieeexplore.ieee.org/document/10690428" TargetMode="External"/><Relationship Id="rId8" Type="http://schemas.openxmlformats.org/officeDocument/2006/relationships/hyperlink" Target="http://ieeexplore.ieee.org/document/1069042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64" y="2076450"/>
            <a:ext cx="116988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SIH26217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3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Student Innovation – Renewable/Sustainable Energy</a:t>
            </a:r>
            <a:endParaRPr b="1" sz="2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Renewable / Sustainable Energy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 11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400">
                <a:solidFill>
                  <a:schemeClr val="dk1"/>
                </a:solidFill>
              </a:rPr>
              <a:t>- Power IQ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-388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Design and Development of a Multi-Shaft Solar Cell Tracking System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0" y="1369200"/>
            <a:ext cx="12192000" cy="4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Proposed Solution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Stationary frame with rotating PV cell rows.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Single motor synchronizes multiple shafts using a worm-drive.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Automatic tracking keeps cells aligned with sunlight.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How It Addresses the Problem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Less moving mass than whole-panel tracking.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Better daily solar energy harvesting.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Innovation &amp; Uniqueness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“Rotate the Cells, Not the Panel.”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Single-drive multi-shaft synchronized tracking architecture.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Designed for compact, energy-efficient and scalable solar tracking.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2"/>
          <p:cNvSpPr/>
          <p:nvPr/>
        </p:nvSpPr>
        <p:spPr>
          <a:xfrm>
            <a:off x="183000" y="252250"/>
            <a:ext cx="1543800" cy="972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IQ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title="mkdjms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5575" y="2536875"/>
            <a:ext cx="5777027" cy="288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84325" y="1489300"/>
            <a:ext cx="8899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Hardware														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Solar Cells + Multi-Shaft Worm Gear Mechanism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NEMA17 Stepper Motor + Stepper Driver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STM32 Microcontroller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LDR Sun-Tracking Sensors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Voltage &amp; Current Sensors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Software &amp; Intelligence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Embedded C/C++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IoT Cloud Monitoring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AI-Based Energy Prediction &amp; Fault Detection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939100" y="1489300"/>
            <a:ext cx="62529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Methodology / Working Flow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Sunlight → LDR Sensors → STM32 → Stepper Motor → Worm Drive → Multi-Shaft Rotation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Voltage/Current Sensors → IoT Cloud → AI Analysis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descr="Your startup LOGO" id="120" name="Google Shape;120;p3"/>
          <p:cNvSpPr/>
          <p:nvPr/>
        </p:nvSpPr>
        <p:spPr>
          <a:xfrm>
            <a:off x="183000" y="252250"/>
            <a:ext cx="1543800" cy="972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IQ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 title="lkmdkew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099" y="3278875"/>
            <a:ext cx="6217924" cy="302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0" y="1460550"/>
            <a:ext cx="7230300" cy="50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Feasibility												</a:t>
            </a:r>
            <a:endParaRPr b="1" sz="24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Single motor operates multiple solar-cell shafts.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Uses standard, low-cost and easily available components.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Initial multi-shaft mechanical mechanism successfully tested.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Modular design allows easy scaling and maintenance.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Challenges &amp; Risks</a:t>
            </a:r>
            <a:endParaRPr b="1" sz="24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Gear backlash and shaft synchronization errors.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Mechanical align</a:t>
            </a:r>
            <a:r>
              <a:rPr lang="en-US" sz="1700">
                <a:solidFill>
                  <a:schemeClr val="dk1"/>
                </a:solidFill>
              </a:rPr>
              <a:t>ment and increased load with multiple shafts.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Motor power consumption may reduce net energy gain.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Outdoor dust, heat and weather may affect reliability.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Flexible wiring and proper cable routing to prevent wire damage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0" name="Google Shape;130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33" name="Google Shape;133;p4"/>
          <p:cNvSpPr/>
          <p:nvPr/>
        </p:nvSpPr>
        <p:spPr>
          <a:xfrm>
            <a:off x="183000" y="252250"/>
            <a:ext cx="1543800" cy="972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IQ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317525" y="1513400"/>
            <a:ext cx="60189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Strategies to Overcome</a:t>
            </a:r>
            <a:endParaRPr b="1" sz="24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Precision gear alignment with bearing-supported shafts.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Step-by-step load and synchronization testing.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Intermittent tracking to minimize motor energy consumption.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IoT monitoring for performance and fault detection</a:t>
            </a:r>
            <a:endParaRPr sz="1700"/>
          </a:p>
        </p:txBody>
      </p:sp>
      <p:pic>
        <p:nvPicPr>
          <p:cNvPr id="135" name="Google Shape;1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0300" y="3834762"/>
            <a:ext cx="4664275" cy="24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122950" y="1022674"/>
            <a:ext cx="11510400" cy="50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Potential Impact</a:t>
            </a:r>
            <a:endParaRPr b="1"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More daily energy from the same solar cells.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Useful for </a:t>
            </a:r>
            <a:r>
              <a:rPr b="1" lang="en-US" sz="1600">
                <a:solidFill>
                  <a:schemeClr val="dk1"/>
                </a:solidFill>
              </a:rPr>
              <a:t>On-Grid, Off-Grid, Hybrid and EV Charging</a:t>
            </a:r>
            <a:r>
              <a:rPr lang="en-US" sz="1600">
                <a:solidFill>
                  <a:schemeClr val="dk1"/>
                </a:solidFill>
              </a:rPr>
              <a:t> systems.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Better solar power generation in limited installation space.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Future use for high-power loads such as </a:t>
            </a:r>
            <a:r>
              <a:rPr b="1" lang="en-US" sz="1600">
                <a:solidFill>
                  <a:schemeClr val="dk1"/>
                </a:solidFill>
              </a:rPr>
              <a:t>AI &amp; Data Centers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Economic &amp; Practical Benefits</a:t>
            </a:r>
            <a:endParaRPr b="1"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Higher energy output can reduce the solar capacity needed for the same daily energy demand.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Single motor tracks multiple PV cell rows</a:t>
            </a:r>
            <a:r>
              <a:rPr lang="en-US" sz="1600">
                <a:solidFill>
                  <a:schemeClr val="dk1"/>
                </a:solidFill>
              </a:rPr>
              <a:t>, reducing the moving mechanism.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Tracking mechanism can be built </a:t>
            </a:r>
            <a:r>
              <a:rPr b="1" lang="en-US" sz="1600">
                <a:solidFill>
                  <a:schemeClr val="dk1"/>
                </a:solidFill>
              </a:rPr>
              <a:t>inside the solar module</a:t>
            </a:r>
            <a:r>
              <a:rPr lang="en-US" sz="1600">
                <a:solidFill>
                  <a:schemeClr val="dk1"/>
                </a:solidFill>
              </a:rPr>
              <a:t>, making installation simple.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Ready-made tracking panels can be installed by </a:t>
            </a:r>
            <a:r>
              <a:rPr b="1" lang="en-US" sz="1600">
                <a:solidFill>
                  <a:schemeClr val="dk1"/>
                </a:solidFill>
              </a:rPr>
              <a:t>regular solar technicians</a:t>
            </a:r>
            <a:r>
              <a:rPr lang="en-US" sz="1600">
                <a:solidFill>
                  <a:schemeClr val="dk1"/>
                </a:solidFill>
              </a:rPr>
              <a:t>, without complex tracking structures.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Environmental &amp; Smart Benefits</a:t>
            </a:r>
            <a:endParaRPr b="1"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More solar energy means less dependence on conventional grid power.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IoT:</a:t>
            </a:r>
            <a:r>
              <a:rPr lang="en-US" sz="1600">
                <a:solidFill>
                  <a:schemeClr val="dk1"/>
                </a:solidFill>
              </a:rPr>
              <a:t> Live Voltage, Current, Power &amp; Energy monitoring.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AI:</a:t>
            </a:r>
            <a:r>
              <a:rPr lang="en-US" sz="1600">
                <a:solidFill>
                  <a:schemeClr val="dk1"/>
                </a:solidFill>
              </a:rPr>
              <a:t> Generation prediction, fault detection &amp; maintenance support.</a:t>
            </a:r>
            <a:endParaRPr sz="1600"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47" name="Google Shape;147;p5"/>
          <p:cNvSpPr/>
          <p:nvPr/>
        </p:nvSpPr>
        <p:spPr>
          <a:xfrm>
            <a:off x="122950" y="0"/>
            <a:ext cx="1543800" cy="972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IQ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4900275" y="1095375"/>
            <a:ext cx="755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rgbClr val="188038"/>
                </a:solidFill>
              </a:rPr>
              <a:t>• </a:t>
            </a:r>
            <a:r>
              <a:rPr b="1" lang="en-US" sz="1600">
                <a:solidFill>
                  <a:srgbClr val="188038"/>
                </a:solidFill>
              </a:rPr>
              <a:t>More Solar Energy</a:t>
            </a:r>
            <a:r>
              <a:rPr b="1" lang="en-US" sz="1600">
                <a:solidFill>
                  <a:srgbClr val="FF9900"/>
                </a:solidFill>
              </a:rPr>
              <a:t> • Less Space • Simple Installation </a:t>
            </a:r>
            <a:r>
              <a:rPr b="1" lang="en-US" sz="1600">
                <a:solidFill>
                  <a:srgbClr val="38761D"/>
                </a:solidFill>
              </a:rPr>
              <a:t>•</a:t>
            </a:r>
            <a:r>
              <a:rPr b="1" lang="en-US" sz="1600">
                <a:solidFill>
                  <a:srgbClr val="38761D"/>
                </a:solidFill>
              </a:rPr>
              <a:t> Smart Monitoring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22100" y="1095375"/>
            <a:ext cx="119079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1. Solar Tracking Technologies – Review of mechanisms, challenges and future directions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IEEE, 2024 | </a:t>
            </a:r>
            <a:r>
              <a:rPr b="1" lang="en-US" sz="1800">
                <a:solidFill>
                  <a:schemeClr val="dk1"/>
                </a:solidFill>
              </a:rPr>
              <a:t>Document: 10845331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2. Automated Dual-Axis Solar Tracking System Using Fuzzy Logic Control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IEEE, 2023 | </a:t>
            </a:r>
            <a:r>
              <a:rPr b="1" lang="en-US" sz="1800">
                <a:solidFill>
                  <a:schemeClr val="dk1"/>
                </a:solidFill>
              </a:rPr>
              <a:t>Document: 10373468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3. IoT / Automated Solar Tracking Research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IEEE Xplore | </a:t>
            </a:r>
            <a:r>
              <a:rPr b="1" lang="en-US" sz="1800">
                <a:solidFill>
                  <a:schemeClr val="dk1"/>
                </a:solidFill>
              </a:rPr>
              <a:t>Document: 10690428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4. Solar Tracking &amp; PV Performance Research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IEEE Xplore | </a:t>
            </a:r>
            <a:r>
              <a:rPr b="1" lang="en-US" sz="1800">
                <a:solidFill>
                  <a:schemeClr val="dk1"/>
                </a:solidFill>
              </a:rPr>
              <a:t>Document: 9850454</a:t>
            </a:r>
            <a:endParaRPr sz="1800"/>
          </a:p>
        </p:txBody>
      </p:sp>
      <p:sp>
        <p:nvSpPr>
          <p:cNvPr id="157" name="Google Shape;157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60" name="Google Shape;160;p6"/>
          <p:cNvSpPr/>
          <p:nvPr/>
        </p:nvSpPr>
        <p:spPr>
          <a:xfrm>
            <a:off x="122100" y="49425"/>
            <a:ext cx="1543800" cy="948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IQ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93150" y="4323775"/>
            <a:ext cx="119079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Reference Links: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b="1" lang="en-US" sz="1800">
                <a:solidFill>
                  <a:schemeClr val="dk1"/>
                </a:solidFill>
              </a:rPr>
              <a:t>	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ieeexplore.ieee.org/document/10845331</a:t>
            </a:r>
            <a:br>
              <a:rPr lang="en-US" sz="1800">
                <a:solidFill>
                  <a:srgbClr val="188038"/>
                </a:solidFill>
              </a:rPr>
            </a:br>
            <a:r>
              <a:rPr lang="en-US" sz="1800">
                <a:solidFill>
                  <a:srgbClr val="188038"/>
                </a:solidFill>
              </a:rPr>
              <a:t>	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ieeexplore.ieee.org/document/10690428</a:t>
            </a:r>
            <a:br>
              <a:rPr lang="en-US" sz="1800" u="sng">
                <a:solidFill>
                  <a:schemeClr val="hlink"/>
                </a:solidFill>
                <a:hlinkClick r:id="rId6"/>
              </a:rPr>
            </a:br>
            <a:r>
              <a:rPr lang="en-US" sz="1800" u="sng">
                <a:solidFill>
                  <a:schemeClr val="hlink"/>
                </a:solidFill>
                <a:hlinkClick r:id="rId7"/>
              </a:rPr>
              <a:t>	 ieeexplore.ieee.org/document/10373468</a:t>
            </a:r>
            <a:br>
              <a:rPr lang="en-US" sz="1800" u="sng">
                <a:solidFill>
                  <a:schemeClr val="hlink"/>
                </a:solidFill>
                <a:hlinkClick r:id="rId8"/>
              </a:rPr>
            </a:br>
            <a:r>
              <a:rPr lang="en-US" sz="1800" u="sng">
                <a:solidFill>
                  <a:schemeClr val="hlink"/>
                </a:solidFill>
                <a:hlinkClick r:id="rId9"/>
              </a:rPr>
              <a:t>	 ieeexplore.ieee.org/document/9850454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